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1" autoAdjust="0"/>
    <p:restoredTop sz="94660"/>
  </p:normalViewPr>
  <p:slideViewPr>
    <p:cSldViewPr snapToGrid="0">
      <p:cViewPr>
        <p:scale>
          <a:sx n="57" d="100"/>
          <a:sy n="57" d="100"/>
        </p:scale>
        <p:origin x="380"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7763A3-91AB-425E-847F-F9BB96A8A77D}"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148552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763A3-91AB-425E-847F-F9BB96A8A77D}"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202110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7763A3-91AB-425E-847F-F9BB96A8A77D}"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4075400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4209690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7763A3-91AB-425E-847F-F9BB96A8A77D}"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2934718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7763A3-91AB-425E-847F-F9BB96A8A77D}"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113682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7763A3-91AB-425E-847F-F9BB96A8A77D}"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419715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3737433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2855988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327567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2367788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7459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7763A3-91AB-425E-847F-F9BB96A8A77D}"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1503537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7763A3-91AB-425E-847F-F9BB96A8A77D}"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3998721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27763A3-91AB-425E-847F-F9BB96A8A77D}"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2581437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763A3-91AB-425E-847F-F9BB96A8A77D}"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39929236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7763A3-91AB-425E-847F-F9BB96A8A77D}"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62ECAE-0ADA-49FB-988D-E74E353C4547}" type="slidenum">
              <a:rPr lang="en-US" smtClean="0"/>
              <a:t>‹#›</a:t>
            </a:fld>
            <a:endParaRPr lang="en-US"/>
          </a:p>
        </p:txBody>
      </p:sp>
    </p:spTree>
    <p:extLst>
      <p:ext uri="{BB962C8B-B14F-4D97-AF65-F5344CB8AC3E}">
        <p14:creationId xmlns:p14="http://schemas.microsoft.com/office/powerpoint/2010/main" val="4178942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27763A3-91AB-425E-847F-F9BB96A8A77D}" type="datetimeFigureOut">
              <a:rPr lang="en-US" smtClean="0"/>
              <a:t>2/10/2026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62ECAE-0ADA-49FB-988D-E74E353C4547}" type="slidenum">
              <a:rPr lang="en-US" smtClean="0"/>
              <a:t>‹#›</a:t>
            </a:fld>
            <a:endParaRPr lang="en-US"/>
          </a:p>
        </p:txBody>
      </p:sp>
    </p:spTree>
    <p:extLst>
      <p:ext uri="{BB962C8B-B14F-4D97-AF65-F5344CB8AC3E}">
        <p14:creationId xmlns:p14="http://schemas.microsoft.com/office/powerpoint/2010/main" val="911560967"/>
      </p:ext>
    </p:extLst>
  </p:cSld>
  <p:clrMap bg1="dk1" tx1="lt1" bg2="dk2"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6DAEC-6AD2-D14B-8DC0-032773FB846E}"/>
              </a:ext>
            </a:extLst>
          </p:cNvPr>
          <p:cNvSpPr>
            <a:spLocks noGrp="1"/>
          </p:cNvSpPr>
          <p:nvPr>
            <p:ph type="ctrTitle"/>
          </p:nvPr>
        </p:nvSpPr>
        <p:spPr/>
        <p:txBody>
          <a:bodyPr>
            <a:noAutofit/>
          </a:bodyPr>
          <a:lstStyle/>
          <a:p>
            <a:r>
              <a:rPr lang="en-IN" sz="6000" dirty="0"/>
              <a:t>DATA ANALYSIS PROJECT USING SQL</a:t>
            </a:r>
            <a:endParaRPr lang="en-US" sz="6000" dirty="0"/>
          </a:p>
        </p:txBody>
      </p:sp>
      <p:sp>
        <p:nvSpPr>
          <p:cNvPr id="3" name="Subtitle 2">
            <a:extLst>
              <a:ext uri="{FF2B5EF4-FFF2-40B4-BE49-F238E27FC236}">
                <a16:creationId xmlns:a16="http://schemas.microsoft.com/office/drawing/2014/main" id="{1A98F680-59D1-89E7-8A5E-4E8B1D6C5743}"/>
              </a:ext>
            </a:extLst>
          </p:cNvPr>
          <p:cNvSpPr>
            <a:spLocks noGrp="1"/>
          </p:cNvSpPr>
          <p:nvPr>
            <p:ph type="subTitle" idx="1"/>
          </p:nvPr>
        </p:nvSpPr>
        <p:spPr>
          <a:xfrm>
            <a:off x="1595269" y="4079875"/>
            <a:ext cx="9001462" cy="1655762"/>
          </a:xfrm>
        </p:spPr>
        <p:txBody>
          <a:bodyPr>
            <a:normAutofit/>
          </a:bodyPr>
          <a:lstStyle/>
          <a:p>
            <a:r>
              <a:rPr lang="en-IN" sz="3200" dirty="0"/>
              <a:t>BY Aarti Choudhary</a:t>
            </a:r>
            <a:endParaRPr lang="en-US" sz="3200" dirty="0"/>
          </a:p>
        </p:txBody>
      </p:sp>
    </p:spTree>
    <p:extLst>
      <p:ext uri="{BB962C8B-B14F-4D97-AF65-F5344CB8AC3E}">
        <p14:creationId xmlns:p14="http://schemas.microsoft.com/office/powerpoint/2010/main" val="1277457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BCB3-AE6C-04A4-0D14-0A4BB2CA864E}"/>
              </a:ext>
            </a:extLst>
          </p:cNvPr>
          <p:cNvSpPr>
            <a:spLocks noGrp="1"/>
          </p:cNvSpPr>
          <p:nvPr>
            <p:ph type="title"/>
          </p:nvPr>
        </p:nvSpPr>
        <p:spPr>
          <a:xfrm>
            <a:off x="855631" y="751964"/>
            <a:ext cx="10772775" cy="1387387"/>
          </a:xfrm>
        </p:spPr>
        <p:txBody>
          <a:bodyPr>
            <a:normAutofit/>
          </a:bodyPr>
          <a:lstStyle/>
          <a:p>
            <a:r>
              <a:rPr lang="en-IN" sz="3600" dirty="0"/>
              <a:t>REGULATORY AFFAIRS OF ROAD ACCIDENTS DATA -2020</a:t>
            </a:r>
            <a:endParaRPr lang="en-US" sz="3600" dirty="0"/>
          </a:p>
        </p:txBody>
      </p:sp>
      <p:sp>
        <p:nvSpPr>
          <p:cNvPr id="7" name="Content Placeholder 6">
            <a:extLst>
              <a:ext uri="{FF2B5EF4-FFF2-40B4-BE49-F238E27FC236}">
                <a16:creationId xmlns:a16="http://schemas.microsoft.com/office/drawing/2014/main" id="{27681CDB-E718-492B-5B73-5524A8AD8C18}"/>
              </a:ext>
            </a:extLst>
          </p:cNvPr>
          <p:cNvSpPr>
            <a:spLocks noGrp="1"/>
          </p:cNvSpPr>
          <p:nvPr>
            <p:ph idx="1"/>
          </p:nvPr>
        </p:nvSpPr>
        <p:spPr>
          <a:xfrm>
            <a:off x="700087" y="2387743"/>
            <a:ext cx="10753725" cy="2890157"/>
          </a:xfrm>
        </p:spPr>
        <p:txBody>
          <a:bodyPr>
            <a:normAutofit fontScale="55000" lnSpcReduction="20000"/>
          </a:bodyPr>
          <a:lstStyle/>
          <a:p>
            <a:r>
              <a:rPr lang="en-IN" sz="4000" dirty="0">
                <a:latin typeface="Times New Roman" panose="02020603050405020304" pitchFamily="18" charset="0"/>
                <a:cs typeface="Times New Roman" panose="02020603050405020304" pitchFamily="18" charset="0"/>
              </a:rPr>
              <a:t>Road safety is a major issue in urban India, especially in large cities with heavy traffic. Studying road accidents data helps us understand the main causes of accidents, their outcomes, and differences across cities. This project focuses on </a:t>
            </a:r>
            <a:r>
              <a:rPr lang="en-IN" sz="4000" dirty="0" err="1">
                <a:latin typeface="Times New Roman" panose="02020603050405020304" pitchFamily="18" charset="0"/>
                <a:cs typeface="Times New Roman" panose="02020603050405020304" pitchFamily="18" charset="0"/>
              </a:rPr>
              <a:t>analyzing</a:t>
            </a:r>
            <a:r>
              <a:rPr lang="en-IN" sz="4000" dirty="0">
                <a:latin typeface="Times New Roman" panose="02020603050405020304" pitchFamily="18" charset="0"/>
                <a:cs typeface="Times New Roman" panose="02020603050405020304" pitchFamily="18" charset="0"/>
              </a:rPr>
              <a:t> accidents causes and subcategories , with special attention to minor injury cases. The insights from the study can help authorities plan better , data-driven road safety measures.</a:t>
            </a:r>
          </a:p>
          <a:p>
            <a:pPr marL="0" indent="0">
              <a:buNone/>
            </a:pPr>
            <a:r>
              <a:rPr lang="en-US" sz="5100" dirty="0">
                <a:latin typeface="Times New Roman" panose="02020603050405020304" pitchFamily="18" charset="0"/>
                <a:cs typeface="Times New Roman" panose="02020603050405020304" pitchFamily="18" charset="0"/>
              </a:rPr>
              <a:t>                                                                                                                                                                                                                                     - By Aarti Choudhary </a:t>
            </a:r>
          </a:p>
        </p:txBody>
      </p:sp>
    </p:spTree>
    <p:extLst>
      <p:ext uri="{BB962C8B-B14F-4D97-AF65-F5344CB8AC3E}">
        <p14:creationId xmlns:p14="http://schemas.microsoft.com/office/powerpoint/2010/main" val="2978300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83C7-34E1-3C20-B447-0A62F481E92C}"/>
              </a:ext>
            </a:extLst>
          </p:cNvPr>
          <p:cNvSpPr>
            <a:spLocks noGrp="1"/>
          </p:cNvSpPr>
          <p:nvPr>
            <p:ph type="title"/>
          </p:nvPr>
        </p:nvSpPr>
        <p:spPr>
          <a:xfrm>
            <a:off x="913795" y="-259521"/>
            <a:ext cx="10353761" cy="1326321"/>
          </a:xfrm>
        </p:spPr>
        <p:txBody>
          <a:bodyPr/>
          <a:lstStyle/>
          <a:p>
            <a:br>
              <a:rPr lang="en-US" b="0" dirty="0"/>
            </a:br>
            <a:r>
              <a:rPr lang="en-US" b="0" dirty="0"/>
              <a:t>PROJECT OVERVIEW </a:t>
            </a:r>
            <a:endParaRPr lang="en-US" dirty="0"/>
          </a:p>
        </p:txBody>
      </p:sp>
      <p:sp>
        <p:nvSpPr>
          <p:cNvPr id="3" name="Content Placeholder 2">
            <a:extLst>
              <a:ext uri="{FF2B5EF4-FFF2-40B4-BE49-F238E27FC236}">
                <a16:creationId xmlns:a16="http://schemas.microsoft.com/office/drawing/2014/main" id="{0A255044-226C-999F-68A2-527A4CB192AE}"/>
              </a:ext>
            </a:extLst>
          </p:cNvPr>
          <p:cNvSpPr>
            <a:spLocks noGrp="1"/>
          </p:cNvSpPr>
          <p:nvPr>
            <p:ph idx="1"/>
          </p:nvPr>
        </p:nvSpPr>
        <p:spPr>
          <a:xfrm>
            <a:off x="913794" y="1066800"/>
            <a:ext cx="10353762" cy="3695136"/>
          </a:xfrm>
        </p:spPr>
        <p:txBody>
          <a:bodyPr>
            <a:normAutofit fontScale="25000" lnSpcReduction="20000"/>
          </a:bodyPr>
          <a:lstStyle/>
          <a:p>
            <a:pPr marL="0" indent="0">
              <a:buNone/>
            </a:pPr>
            <a:r>
              <a:rPr lang="en-US" dirty="0">
                <a:latin typeface="Times New Roman" panose="02020603050405020304" pitchFamily="18" charset="0"/>
                <a:cs typeface="Times New Roman" panose="02020603050405020304" pitchFamily="18" charset="0"/>
              </a:rPr>
              <a:t> </a:t>
            </a:r>
          </a:p>
          <a:p>
            <a:r>
              <a:rPr lang="en-US" sz="9600" dirty="0">
                <a:latin typeface="Times New Roman" panose="02020603050405020304" pitchFamily="18" charset="0"/>
                <a:cs typeface="Times New Roman" panose="02020603050405020304" pitchFamily="18" charset="0"/>
              </a:rPr>
              <a:t>This project aims to analyze the distribution of incidents across various cities, focusing only on those where the count exceeds </a:t>
            </a:r>
            <a:r>
              <a:rPr lang="en-US" sz="9600" b="1" dirty="0">
                <a:latin typeface="Times New Roman" panose="02020603050405020304" pitchFamily="18" charset="0"/>
                <a:cs typeface="Times New Roman" panose="02020603050405020304" pitchFamily="18" charset="0"/>
              </a:rPr>
              <a:t>15 cases</a:t>
            </a:r>
            <a:r>
              <a:rPr lang="en-US" sz="9600" dirty="0">
                <a:latin typeface="Times New Roman" panose="02020603050405020304" pitchFamily="18" charset="0"/>
                <a:cs typeface="Times New Roman" panose="02020603050405020304" pitchFamily="18" charset="0"/>
              </a:rPr>
              <a:t>. By filtering and ranking cities based on their incident frequency, we can identify areas with a higher occurrence of minor injuries and assess the underlying factors contributing to these accidents. Understanding these patterns is essential for recognizing high-risk urban zones and addressing road safety concerns effectively.</a:t>
            </a:r>
          </a:p>
          <a:p>
            <a:r>
              <a:rPr lang="en-US" sz="9600" dirty="0">
                <a:latin typeface="Times New Roman" panose="02020603050405020304" pitchFamily="18" charset="0"/>
                <a:cs typeface="Times New Roman" panose="02020603050405020304" pitchFamily="18" charset="0"/>
              </a:rPr>
              <a:t>Using </a:t>
            </a:r>
            <a:r>
              <a:rPr lang="en-US" sz="9600" b="1" dirty="0">
                <a:latin typeface="Times New Roman" panose="02020603050405020304" pitchFamily="18" charset="0"/>
                <a:cs typeface="Times New Roman" panose="02020603050405020304" pitchFamily="18" charset="0"/>
              </a:rPr>
              <a:t>SQL-based data analysis</a:t>
            </a:r>
            <a:r>
              <a:rPr lang="en-US" sz="9600" dirty="0">
                <a:latin typeface="Times New Roman" panose="02020603050405020304" pitchFamily="18" charset="0"/>
                <a:cs typeface="Times New Roman" panose="02020603050405020304" pitchFamily="18" charset="0"/>
              </a:rPr>
              <a:t>, the project extracts meaningful insights from road accident records, categorizing incidents by city and cause. This structured approach allows us to pinpoint cities with frequent minor injury cases and examine which cause categories are most prevalent. The findings can help policymakers, traffic authorities, and urban planners develop targeted safety measures to reduce road accidents and improve overall traffic management.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2369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0E4CD-0245-C675-25DE-98009BC148F7}"/>
              </a:ext>
            </a:extLst>
          </p:cNvPr>
          <p:cNvSpPr>
            <a:spLocks noGrp="1"/>
          </p:cNvSpPr>
          <p:nvPr>
            <p:ph type="title"/>
          </p:nvPr>
        </p:nvSpPr>
        <p:spPr>
          <a:xfrm>
            <a:off x="913795" y="-259521"/>
            <a:ext cx="10353761" cy="1326321"/>
          </a:xfrm>
        </p:spPr>
        <p:txBody>
          <a:bodyPr/>
          <a:lstStyle/>
          <a:p>
            <a:br>
              <a:rPr lang="en-US" b="0" dirty="0"/>
            </a:br>
            <a:r>
              <a:rPr lang="en-US" b="0" dirty="0"/>
              <a:t>TECHNOLOGY USED </a:t>
            </a:r>
            <a:endParaRPr lang="en-US" dirty="0"/>
          </a:p>
        </p:txBody>
      </p:sp>
      <p:sp>
        <p:nvSpPr>
          <p:cNvPr id="3" name="Content Placeholder 2">
            <a:extLst>
              <a:ext uri="{FF2B5EF4-FFF2-40B4-BE49-F238E27FC236}">
                <a16:creationId xmlns:a16="http://schemas.microsoft.com/office/drawing/2014/main" id="{3380BD22-02E7-08D3-9E25-F7A81022A317}"/>
              </a:ext>
            </a:extLst>
          </p:cNvPr>
          <p:cNvSpPr>
            <a:spLocks noGrp="1"/>
          </p:cNvSpPr>
          <p:nvPr>
            <p:ph idx="1"/>
          </p:nvPr>
        </p:nvSpPr>
        <p:spPr>
          <a:xfrm>
            <a:off x="1192576" y="1066800"/>
            <a:ext cx="10353762" cy="3695136"/>
          </a:xfrm>
        </p:spPr>
        <p:txBody>
          <a:bodyPr>
            <a:normAutofit fontScale="25000" lnSpcReduction="20000"/>
          </a:bodyPr>
          <a:lstStyle/>
          <a:p>
            <a:endParaRPr lang="en-US" dirty="0">
              <a:latin typeface="Times New Roman" panose="02020603050405020304" pitchFamily="18" charset="0"/>
              <a:cs typeface="Times New Roman" panose="02020603050405020304" pitchFamily="18" charset="0"/>
            </a:endParaRPr>
          </a:p>
          <a:p>
            <a:pPr>
              <a:lnSpc>
                <a:spcPct val="110000"/>
              </a:lnSpc>
            </a:pPr>
            <a:r>
              <a:rPr lang="en-US" sz="9600" dirty="0">
                <a:latin typeface="Times New Roman" panose="02020603050405020304" pitchFamily="18" charset="0"/>
                <a:cs typeface="Times New Roman" panose="02020603050405020304" pitchFamily="18" charset="0"/>
              </a:rPr>
              <a:t>This project primarily utilizes SQL for querying and analyzing road accident data. SQL is used to extract meaningful insights by filtering, grouping, and ranking cities based on the number of incidents. Various SQL functions such as COUNT(), GROUP BY, ORDER BY, and conditional filtering help in identifying trends related to minor injuries across different cities. Through these queries, we can determine which cities report the highest number of minor injury incidents and analyze the contributing factors.</a:t>
            </a:r>
          </a:p>
          <a:p>
            <a:pPr>
              <a:lnSpc>
                <a:spcPct val="110000"/>
              </a:lnSpc>
            </a:pPr>
            <a:r>
              <a:rPr lang="en-US" sz="9600" dirty="0">
                <a:latin typeface="Times New Roman" panose="02020603050405020304" pitchFamily="18" charset="0"/>
                <a:cs typeface="Times New Roman" panose="02020603050405020304" pitchFamily="18" charset="0"/>
              </a:rPr>
              <a:t>Additionally, Excel  is used for an initial overview of the dataset, specifically to check the structure and available columns. This helps in understanding the data before writing SQL queries for analysis. Lastly, PowerPoint is utilized to present findings in a visually structured format, making it easier to communicate insights, trends, and recommendations effectively. By leveraging these technologies, the project ensures a systematic approach to data analysis and presentation. </a:t>
            </a:r>
          </a:p>
        </p:txBody>
      </p:sp>
    </p:spTree>
    <p:extLst>
      <p:ext uri="{BB962C8B-B14F-4D97-AF65-F5344CB8AC3E}">
        <p14:creationId xmlns:p14="http://schemas.microsoft.com/office/powerpoint/2010/main" val="839389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9170-CC5E-3AEE-3644-AE1B981EDA19}"/>
              </a:ext>
            </a:extLst>
          </p:cNvPr>
          <p:cNvSpPr>
            <a:spLocks noGrp="1"/>
          </p:cNvSpPr>
          <p:nvPr>
            <p:ph type="title"/>
          </p:nvPr>
        </p:nvSpPr>
        <p:spPr/>
        <p:txBody>
          <a:bodyPr>
            <a:normAutofit fontScale="90000"/>
          </a:bodyPr>
          <a:lstStyle/>
          <a:p>
            <a:br>
              <a:rPr lang="en-US" b="0" dirty="0"/>
            </a:br>
            <a:r>
              <a:rPr lang="en-US" b="0" dirty="0"/>
              <a:t>QUIRES </a:t>
            </a:r>
            <a:br>
              <a:rPr lang="en-US" b="0" dirty="0"/>
            </a:br>
            <a:r>
              <a:rPr lang="en-US" dirty="0"/>
              <a:t>1] Import &amp; View Table</a:t>
            </a:r>
          </a:p>
        </p:txBody>
      </p:sp>
      <p:pic>
        <p:nvPicPr>
          <p:cNvPr id="5" name="Content Placeholder 4">
            <a:extLst>
              <a:ext uri="{FF2B5EF4-FFF2-40B4-BE49-F238E27FC236}">
                <a16:creationId xmlns:a16="http://schemas.microsoft.com/office/drawing/2014/main" id="{2C6D6F65-A759-E390-4E34-A09EBB87F54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6725" t="44192" r="41705" b="24302"/>
          <a:stretch>
            <a:fillRect/>
          </a:stretch>
        </p:blipFill>
        <p:spPr>
          <a:xfrm>
            <a:off x="4492474" y="3560004"/>
            <a:ext cx="6775082" cy="2695575"/>
          </a:xfrm>
        </p:spPr>
      </p:pic>
      <p:sp>
        <p:nvSpPr>
          <p:cNvPr id="9" name="TextBox 8">
            <a:extLst>
              <a:ext uri="{FF2B5EF4-FFF2-40B4-BE49-F238E27FC236}">
                <a16:creationId xmlns:a16="http://schemas.microsoft.com/office/drawing/2014/main" id="{66993F06-D95B-2491-E929-9EEAE3D193F9}"/>
              </a:ext>
            </a:extLst>
          </p:cNvPr>
          <p:cNvSpPr txBox="1"/>
          <p:nvPr/>
        </p:nvSpPr>
        <p:spPr>
          <a:xfrm>
            <a:off x="1445404" y="2450442"/>
            <a:ext cx="6094140" cy="1569660"/>
          </a:xfrm>
          <a:prstGeom prst="rect">
            <a:avLst/>
          </a:prstGeom>
          <a:noFill/>
        </p:spPr>
        <p:txBody>
          <a:bodyPr wrap="square">
            <a:spAutoFit/>
          </a:bodyPr>
          <a:lstStyle/>
          <a:p>
            <a:r>
              <a:rPr lang="en-US" sz="2400" dirty="0"/>
              <a:t>create database </a:t>
            </a:r>
            <a:r>
              <a:rPr lang="en-US" sz="2400" dirty="0" err="1"/>
              <a:t>df</a:t>
            </a:r>
            <a:r>
              <a:rPr lang="en-US" sz="2400" dirty="0"/>
              <a:t>;</a:t>
            </a:r>
          </a:p>
          <a:p>
            <a:r>
              <a:rPr lang="en-US" sz="2400" dirty="0"/>
              <a:t>use </a:t>
            </a:r>
            <a:r>
              <a:rPr lang="en-US" sz="2400" dirty="0" err="1"/>
              <a:t>df</a:t>
            </a:r>
            <a:r>
              <a:rPr lang="en-US" sz="2400" dirty="0"/>
              <a:t>;</a:t>
            </a:r>
          </a:p>
          <a:p>
            <a:r>
              <a:rPr lang="en-US" sz="2400" dirty="0"/>
              <a:t>show tables;</a:t>
            </a:r>
          </a:p>
          <a:p>
            <a:r>
              <a:rPr lang="en-US" sz="2400" dirty="0"/>
              <a:t>select * from </a:t>
            </a:r>
            <a:r>
              <a:rPr lang="en-US" sz="2400" dirty="0" err="1"/>
              <a:t>df</a:t>
            </a:r>
            <a:r>
              <a:rPr lang="en-US" sz="2400" dirty="0"/>
              <a:t>;</a:t>
            </a:r>
          </a:p>
        </p:txBody>
      </p:sp>
      <p:pic>
        <p:nvPicPr>
          <p:cNvPr id="12" name="Graphic 11" descr="Back">
            <a:extLst>
              <a:ext uri="{FF2B5EF4-FFF2-40B4-BE49-F238E27FC236}">
                <a16:creationId xmlns:a16="http://schemas.microsoft.com/office/drawing/2014/main" id="{3E20C36F-A7B2-9CF8-6B37-6F3B6CC8D3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2406447" y="4028957"/>
            <a:ext cx="1957465" cy="1957465"/>
          </a:xfrm>
          <a:prstGeom prst="rect">
            <a:avLst/>
          </a:prstGeom>
        </p:spPr>
      </p:pic>
    </p:spTree>
    <p:extLst>
      <p:ext uri="{BB962C8B-B14F-4D97-AF65-F5344CB8AC3E}">
        <p14:creationId xmlns:p14="http://schemas.microsoft.com/office/powerpoint/2010/main" val="4143635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60C3F-8AB2-C82C-E6AB-1D871076BC3F}"/>
              </a:ext>
            </a:extLst>
          </p:cNvPr>
          <p:cNvSpPr>
            <a:spLocks noGrp="1"/>
          </p:cNvSpPr>
          <p:nvPr>
            <p:ph type="title"/>
          </p:nvPr>
        </p:nvSpPr>
        <p:spPr/>
        <p:txBody>
          <a:bodyPr/>
          <a:lstStyle/>
          <a:p>
            <a:br>
              <a:rPr lang="en-US" b="0" dirty="0"/>
            </a:br>
            <a:r>
              <a:rPr lang="en-US" dirty="0"/>
              <a:t>2] Rename The Table </a:t>
            </a:r>
          </a:p>
        </p:txBody>
      </p:sp>
      <p:pic>
        <p:nvPicPr>
          <p:cNvPr id="5" name="Content Placeholder 4">
            <a:extLst>
              <a:ext uri="{FF2B5EF4-FFF2-40B4-BE49-F238E27FC236}">
                <a16:creationId xmlns:a16="http://schemas.microsoft.com/office/drawing/2014/main" id="{DBD7E3FE-E616-D511-95B7-CB4FCDF97FB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6017" t="47938" r="63840" b="41495"/>
          <a:stretch>
            <a:fillRect/>
          </a:stretch>
        </p:blipFill>
        <p:spPr>
          <a:xfrm>
            <a:off x="5164819" y="3705999"/>
            <a:ext cx="4496552" cy="1326321"/>
          </a:xfrm>
        </p:spPr>
      </p:pic>
      <p:sp>
        <p:nvSpPr>
          <p:cNvPr id="9" name="TextBox 8">
            <a:extLst>
              <a:ext uri="{FF2B5EF4-FFF2-40B4-BE49-F238E27FC236}">
                <a16:creationId xmlns:a16="http://schemas.microsoft.com/office/drawing/2014/main" id="{30638B32-36A9-E6A3-2DCB-DF3BF9253926}"/>
              </a:ext>
            </a:extLst>
          </p:cNvPr>
          <p:cNvSpPr txBox="1"/>
          <p:nvPr/>
        </p:nvSpPr>
        <p:spPr>
          <a:xfrm>
            <a:off x="1697774" y="2567002"/>
            <a:ext cx="6094140" cy="1200329"/>
          </a:xfrm>
          <a:prstGeom prst="rect">
            <a:avLst/>
          </a:prstGeom>
          <a:noFill/>
        </p:spPr>
        <p:txBody>
          <a:bodyPr wrap="square">
            <a:spAutoFit/>
          </a:bodyPr>
          <a:lstStyle/>
          <a:p>
            <a:r>
              <a:rPr lang="en-US" sz="2400" dirty="0"/>
              <a:t>rename table </a:t>
            </a:r>
            <a:r>
              <a:rPr lang="en-US" sz="2400" dirty="0" err="1"/>
              <a:t>df</a:t>
            </a:r>
            <a:r>
              <a:rPr lang="en-US" sz="2400" dirty="0"/>
              <a:t> to accidents;</a:t>
            </a:r>
          </a:p>
          <a:p>
            <a:r>
              <a:rPr lang="en-US" sz="2400" dirty="0"/>
              <a:t>select * from accidents;</a:t>
            </a:r>
          </a:p>
          <a:p>
            <a:r>
              <a:rPr lang="en-US" sz="2400" dirty="0"/>
              <a:t>show tables;</a:t>
            </a:r>
          </a:p>
        </p:txBody>
      </p:sp>
      <p:pic>
        <p:nvPicPr>
          <p:cNvPr id="10" name="Graphic 9" descr="Back">
            <a:extLst>
              <a:ext uri="{FF2B5EF4-FFF2-40B4-BE49-F238E27FC236}">
                <a16:creationId xmlns:a16="http://schemas.microsoft.com/office/drawing/2014/main" id="{326E0A25-248B-3F88-77AA-42863F6C64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3388843" y="3686741"/>
            <a:ext cx="1423342" cy="1423342"/>
          </a:xfrm>
          <a:prstGeom prst="rect">
            <a:avLst/>
          </a:prstGeom>
        </p:spPr>
      </p:pic>
    </p:spTree>
    <p:extLst>
      <p:ext uri="{BB962C8B-B14F-4D97-AF65-F5344CB8AC3E}">
        <p14:creationId xmlns:p14="http://schemas.microsoft.com/office/powerpoint/2010/main" val="3680916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4CD9-3353-7FBC-E29D-B1B52527D023}"/>
              </a:ext>
            </a:extLst>
          </p:cNvPr>
          <p:cNvSpPr>
            <a:spLocks noGrp="1"/>
          </p:cNvSpPr>
          <p:nvPr>
            <p:ph type="title"/>
          </p:nvPr>
        </p:nvSpPr>
        <p:spPr/>
        <p:txBody>
          <a:bodyPr/>
          <a:lstStyle/>
          <a:p>
            <a:br>
              <a:rPr lang="en-US" b="0" dirty="0"/>
            </a:br>
            <a:r>
              <a:rPr lang="en-US" dirty="0"/>
              <a:t>4] Check Null Values</a:t>
            </a:r>
          </a:p>
        </p:txBody>
      </p:sp>
      <p:pic>
        <p:nvPicPr>
          <p:cNvPr id="7" name="Content Placeholder 6">
            <a:extLst>
              <a:ext uri="{FF2B5EF4-FFF2-40B4-BE49-F238E27FC236}">
                <a16:creationId xmlns:a16="http://schemas.microsoft.com/office/drawing/2014/main" id="{2FC5C7B2-FA4E-76EE-83BE-246E7A8B67B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5632" r="30312" b="23517"/>
          <a:stretch>
            <a:fillRect/>
          </a:stretch>
        </p:blipFill>
        <p:spPr>
          <a:xfrm>
            <a:off x="5716714" y="4666420"/>
            <a:ext cx="5717102" cy="1425717"/>
          </a:xfrm>
        </p:spPr>
      </p:pic>
      <p:sp>
        <p:nvSpPr>
          <p:cNvPr id="11" name="TextBox 10">
            <a:extLst>
              <a:ext uri="{FF2B5EF4-FFF2-40B4-BE49-F238E27FC236}">
                <a16:creationId xmlns:a16="http://schemas.microsoft.com/office/drawing/2014/main" id="{3C1A7EFD-4055-2282-5254-C6E5103D5E9F}"/>
              </a:ext>
            </a:extLst>
          </p:cNvPr>
          <p:cNvSpPr txBox="1"/>
          <p:nvPr/>
        </p:nvSpPr>
        <p:spPr>
          <a:xfrm>
            <a:off x="1006397" y="2099321"/>
            <a:ext cx="6094140" cy="2677656"/>
          </a:xfrm>
          <a:prstGeom prst="rect">
            <a:avLst/>
          </a:prstGeom>
          <a:noFill/>
        </p:spPr>
        <p:txBody>
          <a:bodyPr wrap="square">
            <a:spAutoFit/>
          </a:bodyPr>
          <a:lstStyle/>
          <a:p>
            <a:r>
              <a:rPr lang="en-US" sz="2400" dirty="0"/>
              <a:t>select `Million Plus Cities` ,</a:t>
            </a:r>
          </a:p>
          <a:p>
            <a:r>
              <a:rPr lang="en-US" sz="2400" dirty="0"/>
              <a:t>count(*) as </a:t>
            </a:r>
            <a:r>
              <a:rPr lang="en-US" sz="2400" dirty="0" err="1"/>
              <a:t>total_accidents</a:t>
            </a:r>
            <a:r>
              <a:rPr lang="en-US" sz="2400" dirty="0"/>
              <a:t> from accidents</a:t>
            </a:r>
          </a:p>
          <a:p>
            <a:r>
              <a:rPr lang="en-US" sz="2400" dirty="0"/>
              <a:t>group by `Million Plus Cities`;</a:t>
            </a:r>
          </a:p>
          <a:p>
            <a:r>
              <a:rPr lang="en-US" sz="2400" dirty="0"/>
              <a:t>select * from accidents where `Million Plus Cities` or </a:t>
            </a:r>
            <a:r>
              <a:rPr lang="en-US" sz="2400" dirty="0" err="1"/>
              <a:t>`Cause</a:t>
            </a:r>
            <a:r>
              <a:rPr lang="en-US" sz="2400" dirty="0"/>
              <a:t> category` or </a:t>
            </a:r>
            <a:r>
              <a:rPr lang="en-US" sz="2400" dirty="0" err="1"/>
              <a:t>`Cause</a:t>
            </a:r>
            <a:r>
              <a:rPr lang="en-US" sz="2400" dirty="0"/>
              <a:t> Subcategory` or `Outcome of Incident`  or `Count` is null;</a:t>
            </a:r>
          </a:p>
        </p:txBody>
      </p:sp>
      <p:pic>
        <p:nvPicPr>
          <p:cNvPr id="12" name="Graphic 11" descr="Back">
            <a:extLst>
              <a:ext uri="{FF2B5EF4-FFF2-40B4-BE49-F238E27FC236}">
                <a16:creationId xmlns:a16="http://schemas.microsoft.com/office/drawing/2014/main" id="{4E7BD7D8-38E0-2955-97AE-59DB89E450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3387753" y="4400545"/>
            <a:ext cx="1957465" cy="1957465"/>
          </a:xfrm>
          <a:prstGeom prst="rect">
            <a:avLst/>
          </a:prstGeom>
        </p:spPr>
      </p:pic>
    </p:spTree>
    <p:extLst>
      <p:ext uri="{BB962C8B-B14F-4D97-AF65-F5344CB8AC3E}">
        <p14:creationId xmlns:p14="http://schemas.microsoft.com/office/powerpoint/2010/main" val="245876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CD4D-8262-C4EF-F7A4-61362D6BC6EF}"/>
              </a:ext>
            </a:extLst>
          </p:cNvPr>
          <p:cNvSpPr>
            <a:spLocks noGrp="1"/>
          </p:cNvSpPr>
          <p:nvPr>
            <p:ph type="title"/>
          </p:nvPr>
        </p:nvSpPr>
        <p:spPr/>
        <p:txBody>
          <a:bodyPr>
            <a:normAutofit fontScale="90000"/>
          </a:bodyPr>
          <a:lstStyle/>
          <a:p>
            <a:br>
              <a:rPr lang="en-US" b="0" dirty="0"/>
            </a:br>
            <a:r>
              <a:rPr lang="en-US" dirty="0"/>
              <a:t>5] Top Cities with the Highest Incident Count</a:t>
            </a:r>
          </a:p>
        </p:txBody>
      </p:sp>
      <p:pic>
        <p:nvPicPr>
          <p:cNvPr id="5" name="Content Placeholder 4">
            <a:extLst>
              <a:ext uri="{FF2B5EF4-FFF2-40B4-BE49-F238E27FC236}">
                <a16:creationId xmlns:a16="http://schemas.microsoft.com/office/drawing/2014/main" id="{F7A92C25-4BE2-7795-8124-3509298ECC2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6273" t="55787" r="45864" b="14114"/>
          <a:stretch>
            <a:fillRect/>
          </a:stretch>
        </p:blipFill>
        <p:spPr>
          <a:xfrm>
            <a:off x="6090675" y="3435549"/>
            <a:ext cx="4787540" cy="2139886"/>
          </a:xfrm>
        </p:spPr>
      </p:pic>
      <p:sp>
        <p:nvSpPr>
          <p:cNvPr id="9" name="TextBox 8">
            <a:extLst>
              <a:ext uri="{FF2B5EF4-FFF2-40B4-BE49-F238E27FC236}">
                <a16:creationId xmlns:a16="http://schemas.microsoft.com/office/drawing/2014/main" id="{413B4809-BC7A-1936-C4A0-1EA137782799}"/>
              </a:ext>
            </a:extLst>
          </p:cNvPr>
          <p:cNvSpPr txBox="1"/>
          <p:nvPr/>
        </p:nvSpPr>
        <p:spPr>
          <a:xfrm>
            <a:off x="913795" y="2566500"/>
            <a:ext cx="7133992" cy="1938992"/>
          </a:xfrm>
          <a:prstGeom prst="rect">
            <a:avLst/>
          </a:prstGeom>
          <a:noFill/>
        </p:spPr>
        <p:txBody>
          <a:bodyPr wrap="square">
            <a:spAutoFit/>
          </a:bodyPr>
          <a:lstStyle/>
          <a:p>
            <a:r>
              <a:rPr lang="en-US" sz="2400" dirty="0"/>
              <a:t>SELECT `Million Plus Cities`,    </a:t>
            </a:r>
          </a:p>
          <a:p>
            <a:r>
              <a:rPr lang="en-US" sz="2400" dirty="0"/>
              <a:t>COUNT(*) AS </a:t>
            </a:r>
            <a:r>
              <a:rPr lang="en-US" sz="2400" dirty="0" err="1"/>
              <a:t>total_accidents</a:t>
            </a:r>
            <a:r>
              <a:rPr lang="en-US" sz="2400" dirty="0"/>
              <a:t> </a:t>
            </a:r>
          </a:p>
          <a:p>
            <a:r>
              <a:rPr lang="en-US" sz="2400" dirty="0"/>
              <a:t>FROM accidents</a:t>
            </a:r>
          </a:p>
          <a:p>
            <a:r>
              <a:rPr lang="en-US" sz="2400" dirty="0"/>
              <a:t>GROUP BY `Million Plus Cities`</a:t>
            </a:r>
          </a:p>
          <a:p>
            <a:r>
              <a:rPr lang="en-US" sz="2400" dirty="0"/>
              <a:t>ORDER BY </a:t>
            </a:r>
            <a:r>
              <a:rPr lang="en-US" sz="2400" dirty="0" err="1"/>
              <a:t>total_accidents</a:t>
            </a:r>
            <a:r>
              <a:rPr lang="en-US" sz="2400" dirty="0"/>
              <a:t> DESC</a:t>
            </a:r>
          </a:p>
        </p:txBody>
      </p:sp>
      <p:pic>
        <p:nvPicPr>
          <p:cNvPr id="10" name="Graphic 9" descr="Back">
            <a:extLst>
              <a:ext uri="{FF2B5EF4-FFF2-40B4-BE49-F238E27FC236}">
                <a16:creationId xmlns:a16="http://schemas.microsoft.com/office/drawing/2014/main" id="{62644A06-769B-9654-E9E6-F84CB68698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4504985" y="4296481"/>
            <a:ext cx="1487964" cy="1487964"/>
          </a:xfrm>
          <a:prstGeom prst="rect">
            <a:avLst/>
          </a:prstGeom>
        </p:spPr>
      </p:pic>
    </p:spTree>
    <p:extLst>
      <p:ext uri="{BB962C8B-B14F-4D97-AF65-F5344CB8AC3E}">
        <p14:creationId xmlns:p14="http://schemas.microsoft.com/office/powerpoint/2010/main" val="466461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8750-DD64-27FE-2018-78D7F5FBD5E9}"/>
              </a:ext>
            </a:extLst>
          </p:cNvPr>
          <p:cNvSpPr>
            <a:spLocks noGrp="1"/>
          </p:cNvSpPr>
          <p:nvPr>
            <p:ph type="title"/>
          </p:nvPr>
        </p:nvSpPr>
        <p:spPr/>
        <p:txBody>
          <a:bodyPr>
            <a:normAutofit fontScale="90000"/>
          </a:bodyPr>
          <a:lstStyle/>
          <a:p>
            <a:br>
              <a:rPr lang="en-US" b="0" dirty="0"/>
            </a:br>
            <a:r>
              <a:rPr lang="en-US" dirty="0"/>
              <a:t>6] Distribution of "Minor Injury" Incident Outcomes Across Cities (Greater Than 15)</a:t>
            </a:r>
          </a:p>
        </p:txBody>
      </p:sp>
      <p:sp>
        <p:nvSpPr>
          <p:cNvPr id="3" name="Content Placeholder 2">
            <a:extLst>
              <a:ext uri="{FF2B5EF4-FFF2-40B4-BE49-F238E27FC236}">
                <a16:creationId xmlns:a16="http://schemas.microsoft.com/office/drawing/2014/main" id="{6DBC2D12-1681-FEC8-144D-8E1BB59CAA2B}"/>
              </a:ext>
            </a:extLst>
          </p:cNvPr>
          <p:cNvSpPr>
            <a:spLocks noGrp="1"/>
          </p:cNvSpPr>
          <p:nvPr>
            <p:ph idx="1"/>
          </p:nvPr>
        </p:nvSpPr>
        <p:spPr>
          <a:xfrm>
            <a:off x="345083" y="1728074"/>
            <a:ext cx="10353762" cy="3695136"/>
          </a:xfrm>
        </p:spPr>
        <p:txBody>
          <a:bodyPr/>
          <a:lstStyle/>
          <a:p>
            <a:pPr marL="0" indent="0">
              <a:buNone/>
            </a:pPr>
            <a:r>
              <a:rPr lang="en-US" sz="1800" dirty="0"/>
              <a:t>SELECT `Million Plus Cities`,</a:t>
            </a:r>
          </a:p>
          <a:p>
            <a:pPr marL="0" indent="0">
              <a:buNone/>
            </a:pPr>
            <a:r>
              <a:rPr lang="en-US" sz="1800" dirty="0"/>
              <a:t>COUNT(*) AS </a:t>
            </a:r>
            <a:r>
              <a:rPr lang="en-US" sz="1800" dirty="0" err="1"/>
              <a:t>minor_injury_count</a:t>
            </a:r>
            <a:r>
              <a:rPr lang="en-US" sz="1800" dirty="0"/>
              <a:t> FROM accidents</a:t>
            </a:r>
          </a:p>
          <a:p>
            <a:pPr marL="0" indent="0">
              <a:buNone/>
            </a:pPr>
            <a:r>
              <a:rPr lang="en-US" sz="1800" dirty="0"/>
              <a:t>WHERE `Outcome of Incident` = 'Minor Injury’</a:t>
            </a:r>
          </a:p>
          <a:p>
            <a:pPr marL="0" indent="0">
              <a:buNone/>
            </a:pPr>
            <a:r>
              <a:rPr lang="en-US" sz="1800" dirty="0"/>
              <a:t>GROUP BY `Million Plus Cities`</a:t>
            </a:r>
          </a:p>
          <a:p>
            <a:pPr marL="0" indent="0">
              <a:buNone/>
            </a:pPr>
            <a:r>
              <a:rPr lang="en-US" sz="1800" dirty="0"/>
              <a:t>HAVING COUNT(*) &gt; 15</a:t>
            </a:r>
          </a:p>
          <a:p>
            <a:pPr marL="0" indent="0">
              <a:buNone/>
            </a:pPr>
            <a:r>
              <a:rPr lang="en-US" sz="1800" dirty="0"/>
              <a:t>order by </a:t>
            </a:r>
            <a:r>
              <a:rPr lang="en-US" sz="1800" dirty="0" err="1"/>
              <a:t>minor_injury_count</a:t>
            </a:r>
            <a:r>
              <a:rPr lang="en-US" sz="1800" dirty="0"/>
              <a:t> desc;</a:t>
            </a:r>
          </a:p>
          <a:p>
            <a:pPr marL="0" indent="0">
              <a:buNone/>
            </a:pPr>
            <a:endParaRPr lang="en-US" dirty="0"/>
          </a:p>
        </p:txBody>
      </p:sp>
      <p:pic>
        <p:nvPicPr>
          <p:cNvPr id="7" name="Picture 6">
            <a:extLst>
              <a:ext uri="{FF2B5EF4-FFF2-40B4-BE49-F238E27FC236}">
                <a16:creationId xmlns:a16="http://schemas.microsoft.com/office/drawing/2014/main" id="{33037835-EA14-AC9B-AB00-B3DA89ED6A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9132" y="2881888"/>
            <a:ext cx="3247610" cy="3706927"/>
          </a:xfrm>
          <a:prstGeom prst="rect">
            <a:avLst/>
          </a:prstGeom>
        </p:spPr>
      </p:pic>
      <p:pic>
        <p:nvPicPr>
          <p:cNvPr id="9" name="Picture 8">
            <a:extLst>
              <a:ext uri="{FF2B5EF4-FFF2-40B4-BE49-F238E27FC236}">
                <a16:creationId xmlns:a16="http://schemas.microsoft.com/office/drawing/2014/main" id="{03F64C6D-BB7B-F5A2-1CCD-843549C5C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6498" y="2374754"/>
            <a:ext cx="3247610" cy="3576589"/>
          </a:xfrm>
          <a:prstGeom prst="rect">
            <a:avLst/>
          </a:prstGeom>
        </p:spPr>
      </p:pic>
      <p:pic>
        <p:nvPicPr>
          <p:cNvPr id="10" name="Graphic 9" descr="Back">
            <a:extLst>
              <a:ext uri="{FF2B5EF4-FFF2-40B4-BE49-F238E27FC236}">
                <a16:creationId xmlns:a16="http://schemas.microsoft.com/office/drawing/2014/main" id="{EDB94859-F7E4-C48A-4CA4-197D2C6BF7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312261">
            <a:off x="2897099" y="4444478"/>
            <a:ext cx="1957465" cy="1957465"/>
          </a:xfrm>
          <a:prstGeom prst="rect">
            <a:avLst/>
          </a:prstGeom>
        </p:spPr>
      </p:pic>
    </p:spTree>
    <p:extLst>
      <p:ext uri="{BB962C8B-B14F-4D97-AF65-F5344CB8AC3E}">
        <p14:creationId xmlns:p14="http://schemas.microsoft.com/office/powerpoint/2010/main" val="1012856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2C682-6429-181E-437A-88581FBAA2D0}"/>
              </a:ext>
            </a:extLst>
          </p:cNvPr>
          <p:cNvSpPr>
            <a:spLocks noGrp="1"/>
          </p:cNvSpPr>
          <p:nvPr>
            <p:ph type="title"/>
          </p:nvPr>
        </p:nvSpPr>
        <p:spPr/>
        <p:txBody>
          <a:bodyPr>
            <a:normAutofit fontScale="90000"/>
          </a:bodyPr>
          <a:lstStyle/>
          <a:p>
            <a:br>
              <a:rPr lang="en-US" b="0" dirty="0"/>
            </a:br>
            <a:r>
              <a:rPr lang="en-US" dirty="0"/>
              <a:t>7] Top Cities for Each Specific Cause Category</a:t>
            </a:r>
          </a:p>
        </p:txBody>
      </p:sp>
      <p:sp>
        <p:nvSpPr>
          <p:cNvPr id="3" name="Content Placeholder 2">
            <a:extLst>
              <a:ext uri="{FF2B5EF4-FFF2-40B4-BE49-F238E27FC236}">
                <a16:creationId xmlns:a16="http://schemas.microsoft.com/office/drawing/2014/main" id="{16503C26-BD5C-8925-981F-778D032B8A55}"/>
              </a:ext>
            </a:extLst>
          </p:cNvPr>
          <p:cNvSpPr>
            <a:spLocks noGrp="1"/>
          </p:cNvSpPr>
          <p:nvPr>
            <p:ph idx="1"/>
          </p:nvPr>
        </p:nvSpPr>
        <p:spPr/>
        <p:txBody>
          <a:bodyPr/>
          <a:lstStyle/>
          <a:p>
            <a:pPr marL="0" indent="0">
              <a:buNone/>
            </a:pPr>
            <a:r>
              <a:rPr lang="en-US" dirty="0"/>
              <a:t>select  `Million Plus Cities` , </a:t>
            </a:r>
            <a:r>
              <a:rPr lang="en-US" dirty="0" err="1"/>
              <a:t>`Cause</a:t>
            </a:r>
            <a:r>
              <a:rPr lang="en-US" dirty="0"/>
              <a:t> category`, sum(count) as Total </a:t>
            </a:r>
          </a:p>
          <a:p>
            <a:pPr marL="0" indent="0">
              <a:buNone/>
            </a:pPr>
            <a:r>
              <a:rPr lang="en-US" dirty="0"/>
              <a:t>FROM accidents</a:t>
            </a:r>
          </a:p>
          <a:p>
            <a:pPr marL="0" indent="0">
              <a:buNone/>
            </a:pPr>
            <a:r>
              <a:rPr lang="en-US" dirty="0"/>
              <a:t>group by `Million Plus Cities` , </a:t>
            </a:r>
            <a:r>
              <a:rPr lang="en-US" dirty="0" err="1"/>
              <a:t>`Cause</a:t>
            </a:r>
            <a:r>
              <a:rPr lang="en-US" dirty="0"/>
              <a:t> category` </a:t>
            </a:r>
          </a:p>
          <a:p>
            <a:pPr marL="0" indent="0">
              <a:buNone/>
            </a:pPr>
            <a:r>
              <a:rPr lang="en-US" dirty="0"/>
              <a:t>order by `Million Plus Cities`,</a:t>
            </a:r>
          </a:p>
          <a:p>
            <a:pPr marL="0" indent="0">
              <a:buNone/>
            </a:pPr>
            <a:r>
              <a:rPr lang="en-US" dirty="0"/>
              <a:t>Total desc</a:t>
            </a:r>
          </a:p>
          <a:p>
            <a:pPr marL="0" indent="0">
              <a:buNone/>
            </a:pPr>
            <a:r>
              <a:rPr lang="en-US" dirty="0"/>
              <a:t>Limit 5;</a:t>
            </a:r>
          </a:p>
        </p:txBody>
      </p:sp>
      <p:pic>
        <p:nvPicPr>
          <p:cNvPr id="7" name="Picture 6">
            <a:extLst>
              <a:ext uri="{FF2B5EF4-FFF2-40B4-BE49-F238E27FC236}">
                <a16:creationId xmlns:a16="http://schemas.microsoft.com/office/drawing/2014/main" id="{4D7855C2-B46A-F40D-3B8C-2D91294B8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5284" y="2786004"/>
            <a:ext cx="3813516" cy="3695136"/>
          </a:xfrm>
          <a:prstGeom prst="rect">
            <a:avLst/>
          </a:prstGeom>
        </p:spPr>
      </p:pic>
      <p:pic>
        <p:nvPicPr>
          <p:cNvPr id="8" name="Graphic 7" descr="Back">
            <a:extLst>
              <a:ext uri="{FF2B5EF4-FFF2-40B4-BE49-F238E27FC236}">
                <a16:creationId xmlns:a16="http://schemas.microsoft.com/office/drawing/2014/main" id="{9A62AFE2-7968-876D-8075-558671E84F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4580934" y="4395113"/>
            <a:ext cx="1957465" cy="1957465"/>
          </a:xfrm>
          <a:prstGeom prst="rect">
            <a:avLst/>
          </a:prstGeom>
        </p:spPr>
      </p:pic>
    </p:spTree>
    <p:extLst>
      <p:ext uri="{BB962C8B-B14F-4D97-AF65-F5344CB8AC3E}">
        <p14:creationId xmlns:p14="http://schemas.microsoft.com/office/powerpoint/2010/main" val="338046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C4D13-3698-2B0C-6CAC-EA632C02D212}"/>
              </a:ext>
            </a:extLst>
          </p:cNvPr>
          <p:cNvSpPr>
            <a:spLocks noGrp="1"/>
          </p:cNvSpPr>
          <p:nvPr>
            <p:ph type="title"/>
          </p:nvPr>
        </p:nvSpPr>
        <p:spPr/>
        <p:txBody>
          <a:bodyPr/>
          <a:lstStyle/>
          <a:p>
            <a:r>
              <a:rPr lang="en-IN" dirty="0"/>
              <a:t>Most common outcome across all cities</a:t>
            </a:r>
            <a:endParaRPr lang="en-US" dirty="0"/>
          </a:p>
        </p:txBody>
      </p:sp>
      <p:pic>
        <p:nvPicPr>
          <p:cNvPr id="5" name="Content Placeholder 4">
            <a:extLst>
              <a:ext uri="{FF2B5EF4-FFF2-40B4-BE49-F238E27FC236}">
                <a16:creationId xmlns:a16="http://schemas.microsoft.com/office/drawing/2014/main" id="{BC2B28FF-255E-F051-01F3-7AE5428883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02399" y="4459280"/>
            <a:ext cx="3905795" cy="1781424"/>
          </a:xfrm>
        </p:spPr>
      </p:pic>
      <p:sp>
        <p:nvSpPr>
          <p:cNvPr id="7" name="TextBox 6">
            <a:extLst>
              <a:ext uri="{FF2B5EF4-FFF2-40B4-BE49-F238E27FC236}">
                <a16:creationId xmlns:a16="http://schemas.microsoft.com/office/drawing/2014/main" id="{DA72AF53-4637-6212-3016-805FE5DC8D5B}"/>
              </a:ext>
            </a:extLst>
          </p:cNvPr>
          <p:cNvSpPr txBox="1"/>
          <p:nvPr/>
        </p:nvSpPr>
        <p:spPr>
          <a:xfrm>
            <a:off x="1605171" y="2520288"/>
            <a:ext cx="6590976" cy="1938992"/>
          </a:xfrm>
          <a:prstGeom prst="rect">
            <a:avLst/>
          </a:prstGeom>
          <a:noFill/>
        </p:spPr>
        <p:txBody>
          <a:bodyPr wrap="square">
            <a:spAutoFit/>
          </a:bodyPr>
          <a:lstStyle/>
          <a:p>
            <a:r>
              <a:rPr lang="en-US" sz="2400" dirty="0"/>
              <a:t>select `Outcome of Incident` ,</a:t>
            </a:r>
          </a:p>
          <a:p>
            <a:r>
              <a:rPr lang="en-US" sz="2400" dirty="0"/>
              <a:t>count(*) as </a:t>
            </a:r>
            <a:r>
              <a:rPr lang="en-US" sz="2400" dirty="0" err="1"/>
              <a:t>Total_accidents</a:t>
            </a:r>
            <a:endParaRPr lang="en-US" sz="2400" dirty="0"/>
          </a:p>
          <a:p>
            <a:r>
              <a:rPr lang="en-US" sz="2400" dirty="0"/>
              <a:t>from accidents </a:t>
            </a:r>
          </a:p>
          <a:p>
            <a:r>
              <a:rPr lang="en-US" sz="2400" dirty="0"/>
              <a:t>group by `Outcome of Incident` </a:t>
            </a:r>
          </a:p>
          <a:p>
            <a:r>
              <a:rPr lang="en-US" sz="2400" dirty="0"/>
              <a:t>order by </a:t>
            </a:r>
            <a:r>
              <a:rPr lang="en-US" sz="2400" dirty="0" err="1"/>
              <a:t>Total_accidents</a:t>
            </a:r>
            <a:r>
              <a:rPr lang="en-US" sz="2400" dirty="0"/>
              <a:t> desc;</a:t>
            </a:r>
          </a:p>
        </p:txBody>
      </p:sp>
      <p:pic>
        <p:nvPicPr>
          <p:cNvPr id="8" name="Graphic 7" descr="Back">
            <a:extLst>
              <a:ext uri="{FF2B5EF4-FFF2-40B4-BE49-F238E27FC236}">
                <a16:creationId xmlns:a16="http://schemas.microsoft.com/office/drawing/2014/main" id="{A8937CD4-7E54-FDE6-00D7-74C481D03C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4123735" y="4307738"/>
            <a:ext cx="1957465" cy="1957465"/>
          </a:xfrm>
          <a:prstGeom prst="rect">
            <a:avLst/>
          </a:prstGeom>
        </p:spPr>
      </p:pic>
    </p:spTree>
    <p:extLst>
      <p:ext uri="{BB962C8B-B14F-4D97-AF65-F5344CB8AC3E}">
        <p14:creationId xmlns:p14="http://schemas.microsoft.com/office/powerpoint/2010/main" val="4176078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D06F-D88B-44ED-0365-E4BE461DCD06}"/>
              </a:ext>
            </a:extLst>
          </p:cNvPr>
          <p:cNvSpPr>
            <a:spLocks noGrp="1"/>
          </p:cNvSpPr>
          <p:nvPr>
            <p:ph type="title"/>
          </p:nvPr>
        </p:nvSpPr>
        <p:spPr/>
        <p:txBody>
          <a:bodyPr/>
          <a:lstStyle/>
          <a:p>
            <a:r>
              <a:rPr lang="en-IN" dirty="0"/>
              <a:t>City-wise distribution of accidents caused</a:t>
            </a:r>
            <a:endParaRPr lang="en-US" dirty="0"/>
          </a:p>
        </p:txBody>
      </p:sp>
      <p:pic>
        <p:nvPicPr>
          <p:cNvPr id="5" name="Content Placeholder 4">
            <a:extLst>
              <a:ext uri="{FF2B5EF4-FFF2-40B4-BE49-F238E27FC236}">
                <a16:creationId xmlns:a16="http://schemas.microsoft.com/office/drawing/2014/main" id="{CA333040-E5AD-4C42-0C71-8964347F45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2783" y="2552700"/>
            <a:ext cx="3814098" cy="3695700"/>
          </a:xfrm>
        </p:spPr>
      </p:pic>
      <p:sp>
        <p:nvSpPr>
          <p:cNvPr id="7" name="TextBox 6">
            <a:extLst>
              <a:ext uri="{FF2B5EF4-FFF2-40B4-BE49-F238E27FC236}">
                <a16:creationId xmlns:a16="http://schemas.microsoft.com/office/drawing/2014/main" id="{9B37507C-092B-8AEC-EBBC-47DAFE936FD1}"/>
              </a:ext>
            </a:extLst>
          </p:cNvPr>
          <p:cNvSpPr txBox="1"/>
          <p:nvPr/>
        </p:nvSpPr>
        <p:spPr>
          <a:xfrm>
            <a:off x="913795" y="2349333"/>
            <a:ext cx="6094140" cy="2308324"/>
          </a:xfrm>
          <a:prstGeom prst="rect">
            <a:avLst/>
          </a:prstGeom>
          <a:noFill/>
        </p:spPr>
        <p:txBody>
          <a:bodyPr wrap="square">
            <a:spAutoFit/>
          </a:bodyPr>
          <a:lstStyle/>
          <a:p>
            <a:r>
              <a:rPr lang="en-US" sz="2400" dirty="0"/>
              <a:t>select  `Million Plus Cities` , </a:t>
            </a:r>
            <a:r>
              <a:rPr lang="en-US" sz="2400" dirty="0" err="1"/>
              <a:t>`Cause</a:t>
            </a:r>
            <a:r>
              <a:rPr lang="en-US" sz="2400" dirty="0"/>
              <a:t> category`, sum(count) as Total FROM accidents</a:t>
            </a:r>
          </a:p>
          <a:p>
            <a:r>
              <a:rPr lang="en-US" sz="2400" dirty="0"/>
              <a:t>group by `Million Plus Cities` , </a:t>
            </a:r>
            <a:r>
              <a:rPr lang="en-US" sz="2400" dirty="0" err="1"/>
              <a:t>`Cause</a:t>
            </a:r>
            <a:r>
              <a:rPr lang="en-US" sz="2400" dirty="0"/>
              <a:t> category` </a:t>
            </a:r>
          </a:p>
          <a:p>
            <a:r>
              <a:rPr lang="en-US" sz="2400" dirty="0"/>
              <a:t>order by `Million Plus </a:t>
            </a:r>
            <a:r>
              <a:rPr lang="en-US" sz="2400" dirty="0" err="1"/>
              <a:t>Cities`,Total</a:t>
            </a:r>
            <a:r>
              <a:rPr lang="en-US" sz="2400" dirty="0"/>
              <a:t> desc;</a:t>
            </a:r>
          </a:p>
        </p:txBody>
      </p:sp>
      <p:pic>
        <p:nvPicPr>
          <p:cNvPr id="8" name="Graphic 7" descr="Back">
            <a:extLst>
              <a:ext uri="{FF2B5EF4-FFF2-40B4-BE49-F238E27FC236}">
                <a16:creationId xmlns:a16="http://schemas.microsoft.com/office/drawing/2014/main" id="{CB17F79C-64AC-F91C-2767-0A37B7F468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4614388" y="4529110"/>
            <a:ext cx="1957465" cy="1957465"/>
          </a:xfrm>
          <a:prstGeom prst="rect">
            <a:avLst/>
          </a:prstGeom>
        </p:spPr>
      </p:pic>
    </p:spTree>
    <p:extLst>
      <p:ext uri="{BB962C8B-B14F-4D97-AF65-F5344CB8AC3E}">
        <p14:creationId xmlns:p14="http://schemas.microsoft.com/office/powerpoint/2010/main" val="1453083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D4ED-F3A6-79FF-5254-A7952F0D40EC}"/>
              </a:ext>
            </a:extLst>
          </p:cNvPr>
          <p:cNvSpPr>
            <a:spLocks noGrp="1"/>
          </p:cNvSpPr>
          <p:nvPr>
            <p:ph type="title"/>
          </p:nvPr>
        </p:nvSpPr>
        <p:spPr/>
        <p:txBody>
          <a:bodyPr/>
          <a:lstStyle/>
          <a:p>
            <a:r>
              <a:rPr lang="en-IN" dirty="0"/>
              <a:t>Cities with lowest number of accidents</a:t>
            </a:r>
            <a:endParaRPr lang="en-US" dirty="0"/>
          </a:p>
        </p:txBody>
      </p:sp>
      <p:sp>
        <p:nvSpPr>
          <p:cNvPr id="3" name="Content Placeholder 2">
            <a:extLst>
              <a:ext uri="{FF2B5EF4-FFF2-40B4-BE49-F238E27FC236}">
                <a16:creationId xmlns:a16="http://schemas.microsoft.com/office/drawing/2014/main" id="{06C74668-AFFA-D6B8-F43D-F8EB3BB6498F}"/>
              </a:ext>
            </a:extLst>
          </p:cNvPr>
          <p:cNvSpPr>
            <a:spLocks noGrp="1"/>
          </p:cNvSpPr>
          <p:nvPr>
            <p:ph idx="1"/>
          </p:nvPr>
        </p:nvSpPr>
        <p:spPr/>
        <p:txBody>
          <a:bodyPr>
            <a:normAutofit/>
          </a:bodyPr>
          <a:lstStyle/>
          <a:p>
            <a:pPr marL="0" indent="0">
              <a:buNone/>
            </a:pPr>
            <a:r>
              <a:rPr lang="en-US" sz="2400" dirty="0"/>
              <a:t>select  `Million Plus Cities` ,sum(count) as </a:t>
            </a:r>
            <a:r>
              <a:rPr lang="en-US" sz="2400" dirty="0" err="1"/>
              <a:t>Total_incidents</a:t>
            </a:r>
            <a:r>
              <a:rPr lang="en-US" sz="2400" dirty="0"/>
              <a:t> </a:t>
            </a:r>
          </a:p>
          <a:p>
            <a:pPr marL="0" indent="0">
              <a:buNone/>
            </a:pPr>
            <a:r>
              <a:rPr lang="en-US" sz="2400" dirty="0"/>
              <a:t>from accidents </a:t>
            </a:r>
          </a:p>
          <a:p>
            <a:pPr marL="0" indent="0">
              <a:buNone/>
            </a:pPr>
            <a:r>
              <a:rPr lang="en-US" sz="2400" dirty="0"/>
              <a:t>group by `Million Plus Cities`</a:t>
            </a:r>
          </a:p>
          <a:p>
            <a:pPr marL="0" indent="0">
              <a:buNone/>
            </a:pPr>
            <a:r>
              <a:rPr lang="en-US" sz="2400" dirty="0"/>
              <a:t>order by </a:t>
            </a:r>
            <a:r>
              <a:rPr lang="en-US" sz="2400" dirty="0" err="1"/>
              <a:t>Total_incidents</a:t>
            </a:r>
            <a:r>
              <a:rPr lang="en-US" sz="2400" dirty="0"/>
              <a:t> </a:t>
            </a:r>
            <a:r>
              <a:rPr lang="en-US" sz="2400" dirty="0" err="1"/>
              <a:t>asc</a:t>
            </a:r>
            <a:endParaRPr lang="en-US" sz="2400" dirty="0"/>
          </a:p>
          <a:p>
            <a:pPr marL="0" indent="0">
              <a:buNone/>
            </a:pPr>
            <a:r>
              <a:rPr lang="en-US" sz="2400" dirty="0"/>
              <a:t>limit 5;</a:t>
            </a:r>
          </a:p>
        </p:txBody>
      </p:sp>
      <p:pic>
        <p:nvPicPr>
          <p:cNvPr id="5" name="Picture 4">
            <a:extLst>
              <a:ext uri="{FF2B5EF4-FFF2-40B4-BE49-F238E27FC236}">
                <a16:creationId xmlns:a16="http://schemas.microsoft.com/office/drawing/2014/main" id="{4F67FFAC-11A2-9A27-DD9E-DF5129DCBB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103566"/>
            <a:ext cx="4171703" cy="2670907"/>
          </a:xfrm>
          <a:prstGeom prst="rect">
            <a:avLst/>
          </a:prstGeom>
        </p:spPr>
      </p:pic>
      <p:pic>
        <p:nvPicPr>
          <p:cNvPr id="6" name="Graphic 5" descr="Back">
            <a:extLst>
              <a:ext uri="{FF2B5EF4-FFF2-40B4-BE49-F238E27FC236}">
                <a16:creationId xmlns:a16="http://schemas.microsoft.com/office/drawing/2014/main" id="{A41EA0BA-C766-69D6-32FC-EDA9E35F75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3733442" y="4162374"/>
            <a:ext cx="1957465" cy="1957465"/>
          </a:xfrm>
          <a:prstGeom prst="rect">
            <a:avLst/>
          </a:prstGeom>
        </p:spPr>
      </p:pic>
    </p:spTree>
    <p:extLst>
      <p:ext uri="{BB962C8B-B14F-4D97-AF65-F5344CB8AC3E}">
        <p14:creationId xmlns:p14="http://schemas.microsoft.com/office/powerpoint/2010/main" val="253447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7F8F1-AFCA-BB45-54C2-71004311FD0D}"/>
              </a:ext>
            </a:extLst>
          </p:cNvPr>
          <p:cNvSpPr>
            <a:spLocks noGrp="1"/>
          </p:cNvSpPr>
          <p:nvPr>
            <p:ph type="title"/>
          </p:nvPr>
        </p:nvSpPr>
        <p:spPr/>
        <p:txBody>
          <a:bodyPr/>
          <a:lstStyle/>
          <a:p>
            <a:r>
              <a:rPr lang="en-IN" dirty="0"/>
              <a:t>Most frequent outcome-cause PAIR</a:t>
            </a:r>
            <a:endParaRPr lang="en-US" dirty="0"/>
          </a:p>
        </p:txBody>
      </p:sp>
      <p:sp>
        <p:nvSpPr>
          <p:cNvPr id="3" name="Content Placeholder 2">
            <a:extLst>
              <a:ext uri="{FF2B5EF4-FFF2-40B4-BE49-F238E27FC236}">
                <a16:creationId xmlns:a16="http://schemas.microsoft.com/office/drawing/2014/main" id="{1C798CAE-B9F4-8FF6-5EF3-1A928EEC2B24}"/>
              </a:ext>
            </a:extLst>
          </p:cNvPr>
          <p:cNvSpPr>
            <a:spLocks noGrp="1"/>
          </p:cNvSpPr>
          <p:nvPr>
            <p:ph idx="1"/>
          </p:nvPr>
        </p:nvSpPr>
        <p:spPr/>
        <p:txBody>
          <a:bodyPr>
            <a:normAutofit/>
          </a:bodyPr>
          <a:lstStyle/>
          <a:p>
            <a:pPr marL="0" indent="0">
              <a:buNone/>
            </a:pPr>
            <a:r>
              <a:rPr lang="en-US" sz="2400" dirty="0"/>
              <a:t>select </a:t>
            </a:r>
            <a:r>
              <a:rPr lang="en-US" sz="2400" dirty="0" err="1"/>
              <a:t>`Cause</a:t>
            </a:r>
            <a:r>
              <a:rPr lang="en-US" sz="2400" dirty="0"/>
              <a:t> </a:t>
            </a:r>
            <a:r>
              <a:rPr lang="en-US" sz="2400" dirty="0" err="1"/>
              <a:t>category`,`Outcome</a:t>
            </a:r>
            <a:r>
              <a:rPr lang="en-US" sz="2400" dirty="0"/>
              <a:t> of Incident`,</a:t>
            </a:r>
          </a:p>
          <a:p>
            <a:pPr marL="0" indent="0">
              <a:buNone/>
            </a:pPr>
            <a:r>
              <a:rPr lang="en-US" sz="2400" dirty="0"/>
              <a:t>sum(count) as frequency from accidents</a:t>
            </a:r>
          </a:p>
          <a:p>
            <a:pPr marL="0" indent="0">
              <a:buNone/>
            </a:pPr>
            <a:r>
              <a:rPr lang="en-US" sz="2400" dirty="0"/>
              <a:t>group by </a:t>
            </a:r>
            <a:r>
              <a:rPr lang="en-US" sz="2400" dirty="0" err="1"/>
              <a:t>`Cause</a:t>
            </a:r>
            <a:r>
              <a:rPr lang="en-US" sz="2400" dirty="0"/>
              <a:t> </a:t>
            </a:r>
            <a:r>
              <a:rPr lang="en-US" sz="2400" dirty="0" err="1"/>
              <a:t>category`,`Outcome</a:t>
            </a:r>
            <a:r>
              <a:rPr lang="en-US" sz="2400" dirty="0"/>
              <a:t> of Incident`</a:t>
            </a:r>
          </a:p>
          <a:p>
            <a:pPr marL="0" indent="0">
              <a:buNone/>
            </a:pPr>
            <a:r>
              <a:rPr lang="en-US" sz="2400" dirty="0"/>
              <a:t>order by frequency desc</a:t>
            </a:r>
          </a:p>
          <a:p>
            <a:pPr marL="0" indent="0">
              <a:buNone/>
            </a:pPr>
            <a:r>
              <a:rPr lang="en-US" sz="2400" dirty="0"/>
              <a:t>limit 1;</a:t>
            </a:r>
          </a:p>
        </p:txBody>
      </p:sp>
      <p:pic>
        <p:nvPicPr>
          <p:cNvPr id="5" name="Picture 4">
            <a:extLst>
              <a:ext uri="{FF2B5EF4-FFF2-40B4-BE49-F238E27FC236}">
                <a16:creationId xmlns:a16="http://schemas.microsoft.com/office/drawing/2014/main" id="{1E73BC47-8750-1420-DB94-880BF13BF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4312" y="4560849"/>
            <a:ext cx="6193244" cy="1310109"/>
          </a:xfrm>
          <a:prstGeom prst="rect">
            <a:avLst/>
          </a:prstGeom>
        </p:spPr>
      </p:pic>
      <p:pic>
        <p:nvPicPr>
          <p:cNvPr id="6" name="Graphic 5" descr="Back">
            <a:extLst>
              <a:ext uri="{FF2B5EF4-FFF2-40B4-BE49-F238E27FC236}">
                <a16:creationId xmlns:a16="http://schemas.microsoft.com/office/drawing/2014/main" id="{3307427D-BC66-B2DC-60F9-1FA662CAEA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2763287" y="4430401"/>
            <a:ext cx="1957465" cy="1957465"/>
          </a:xfrm>
          <a:prstGeom prst="rect">
            <a:avLst/>
          </a:prstGeom>
        </p:spPr>
      </p:pic>
    </p:spTree>
    <p:extLst>
      <p:ext uri="{BB962C8B-B14F-4D97-AF65-F5344CB8AC3E}">
        <p14:creationId xmlns:p14="http://schemas.microsoft.com/office/powerpoint/2010/main" val="1683367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4E32F-F123-FE1A-9BE1-8BEEDAA064DB}"/>
              </a:ext>
            </a:extLst>
          </p:cNvPr>
          <p:cNvSpPr>
            <a:spLocks noGrp="1"/>
          </p:cNvSpPr>
          <p:nvPr>
            <p:ph type="title"/>
          </p:nvPr>
        </p:nvSpPr>
        <p:spPr/>
        <p:txBody>
          <a:bodyPr/>
          <a:lstStyle/>
          <a:p>
            <a:r>
              <a:rPr lang="en-IN" dirty="0"/>
              <a:t>PERCENTAGE OF EACH OUTCOME TYPE</a:t>
            </a:r>
            <a:endParaRPr lang="en-US" dirty="0"/>
          </a:p>
        </p:txBody>
      </p:sp>
      <p:sp>
        <p:nvSpPr>
          <p:cNvPr id="3" name="Content Placeholder 2">
            <a:extLst>
              <a:ext uri="{FF2B5EF4-FFF2-40B4-BE49-F238E27FC236}">
                <a16:creationId xmlns:a16="http://schemas.microsoft.com/office/drawing/2014/main" id="{2F51830B-8BCA-259F-3058-7AAC8FF1A3E1}"/>
              </a:ext>
            </a:extLst>
          </p:cNvPr>
          <p:cNvSpPr>
            <a:spLocks noGrp="1"/>
          </p:cNvSpPr>
          <p:nvPr>
            <p:ph idx="1"/>
          </p:nvPr>
        </p:nvSpPr>
        <p:spPr/>
        <p:txBody>
          <a:bodyPr>
            <a:normAutofit/>
          </a:bodyPr>
          <a:lstStyle/>
          <a:p>
            <a:pPr marL="0" indent="0">
              <a:buNone/>
            </a:pPr>
            <a:r>
              <a:rPr lang="en-US" sz="2400" dirty="0"/>
              <a:t>select `Outcome of Incident`,</a:t>
            </a:r>
          </a:p>
          <a:p>
            <a:pPr marL="0" indent="0">
              <a:buNone/>
            </a:pPr>
            <a:r>
              <a:rPr lang="en-US" sz="2400" dirty="0"/>
              <a:t>sum(count)*100/(select sum(count) from accidents) as percentage</a:t>
            </a:r>
          </a:p>
          <a:p>
            <a:pPr marL="0" indent="0">
              <a:buNone/>
            </a:pPr>
            <a:r>
              <a:rPr lang="en-US" sz="2400" dirty="0"/>
              <a:t>from accidents</a:t>
            </a:r>
          </a:p>
          <a:p>
            <a:pPr marL="0" indent="0">
              <a:buNone/>
            </a:pPr>
            <a:r>
              <a:rPr lang="en-US" sz="2400" dirty="0"/>
              <a:t>group by `Outcome of Incident`;</a:t>
            </a:r>
          </a:p>
        </p:txBody>
      </p:sp>
      <p:pic>
        <p:nvPicPr>
          <p:cNvPr id="5" name="Picture 4">
            <a:extLst>
              <a:ext uri="{FF2B5EF4-FFF2-40B4-BE49-F238E27FC236}">
                <a16:creationId xmlns:a16="http://schemas.microsoft.com/office/drawing/2014/main" id="{240226A6-144C-27CF-BBCB-C464062121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1114" y="3656547"/>
            <a:ext cx="5313429" cy="2134653"/>
          </a:xfrm>
          <a:prstGeom prst="rect">
            <a:avLst/>
          </a:prstGeom>
        </p:spPr>
      </p:pic>
      <p:pic>
        <p:nvPicPr>
          <p:cNvPr id="6" name="Graphic 5" descr="Back">
            <a:extLst>
              <a:ext uri="{FF2B5EF4-FFF2-40B4-BE49-F238E27FC236}">
                <a16:creationId xmlns:a16="http://schemas.microsoft.com/office/drawing/2014/main" id="{92621FB4-F6D2-BA7B-088A-C700B6E438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3833802" y="4162375"/>
            <a:ext cx="1957465" cy="1957465"/>
          </a:xfrm>
          <a:prstGeom prst="rect">
            <a:avLst/>
          </a:prstGeom>
        </p:spPr>
      </p:pic>
    </p:spTree>
    <p:extLst>
      <p:ext uri="{BB962C8B-B14F-4D97-AF65-F5344CB8AC3E}">
        <p14:creationId xmlns:p14="http://schemas.microsoft.com/office/powerpoint/2010/main" val="1017224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38690-2A21-F7C2-EE71-EE13DEEC489B}"/>
              </a:ext>
            </a:extLst>
          </p:cNvPr>
          <p:cNvSpPr>
            <a:spLocks noGrp="1"/>
          </p:cNvSpPr>
          <p:nvPr>
            <p:ph type="title"/>
          </p:nvPr>
        </p:nvSpPr>
        <p:spPr/>
        <p:txBody>
          <a:bodyPr/>
          <a:lstStyle/>
          <a:p>
            <a:r>
              <a:rPr lang="en-IN" dirty="0"/>
              <a:t>CITY WITH HIGHEST ACCIDENT FOR A SPECIFIC CAUSE CATEGORY</a:t>
            </a:r>
            <a:endParaRPr lang="en-US" dirty="0"/>
          </a:p>
        </p:txBody>
      </p:sp>
      <p:sp>
        <p:nvSpPr>
          <p:cNvPr id="3" name="Content Placeholder 2">
            <a:extLst>
              <a:ext uri="{FF2B5EF4-FFF2-40B4-BE49-F238E27FC236}">
                <a16:creationId xmlns:a16="http://schemas.microsoft.com/office/drawing/2014/main" id="{32D75A88-2357-D940-2CE2-F0BC12A5487B}"/>
              </a:ext>
            </a:extLst>
          </p:cNvPr>
          <p:cNvSpPr>
            <a:spLocks noGrp="1"/>
          </p:cNvSpPr>
          <p:nvPr>
            <p:ph idx="1"/>
          </p:nvPr>
        </p:nvSpPr>
        <p:spPr/>
        <p:txBody>
          <a:bodyPr>
            <a:normAutofit/>
          </a:bodyPr>
          <a:lstStyle/>
          <a:p>
            <a:pPr marL="0" indent="0">
              <a:buNone/>
            </a:pPr>
            <a:r>
              <a:rPr lang="en-US" sz="2400" dirty="0"/>
              <a:t>select `Million Plus Cities`, count(*) as </a:t>
            </a:r>
            <a:r>
              <a:rPr lang="en-US" sz="2400" dirty="0" err="1"/>
              <a:t>Total_incidents</a:t>
            </a:r>
            <a:r>
              <a:rPr lang="en-US" sz="2400" dirty="0"/>
              <a:t> </a:t>
            </a:r>
          </a:p>
          <a:p>
            <a:pPr marL="0" indent="0">
              <a:buNone/>
            </a:pPr>
            <a:r>
              <a:rPr lang="en-US" sz="2400" dirty="0"/>
              <a:t>from accidents where </a:t>
            </a:r>
            <a:r>
              <a:rPr lang="en-US" sz="2400" dirty="0" err="1"/>
              <a:t>`Cause</a:t>
            </a:r>
            <a:r>
              <a:rPr lang="en-US" sz="2400" dirty="0"/>
              <a:t> category` is not null </a:t>
            </a:r>
          </a:p>
          <a:p>
            <a:pPr marL="0" indent="0">
              <a:buNone/>
            </a:pPr>
            <a:r>
              <a:rPr lang="en-US" sz="2400" dirty="0"/>
              <a:t>group by `Million Plus </a:t>
            </a:r>
            <a:r>
              <a:rPr lang="en-US" sz="2400" dirty="0" err="1"/>
              <a:t>Cities`,`Cause</a:t>
            </a:r>
            <a:r>
              <a:rPr lang="en-US" sz="2400" dirty="0"/>
              <a:t> category`</a:t>
            </a:r>
          </a:p>
          <a:p>
            <a:pPr marL="0" indent="0">
              <a:buNone/>
            </a:pPr>
            <a:r>
              <a:rPr lang="en-US" sz="2400" dirty="0"/>
              <a:t>order by </a:t>
            </a:r>
            <a:r>
              <a:rPr lang="en-US" sz="2400" dirty="0" err="1"/>
              <a:t>Total_incidents</a:t>
            </a:r>
            <a:r>
              <a:rPr lang="en-US" sz="2400" dirty="0"/>
              <a:t> desc limit 1;</a:t>
            </a:r>
          </a:p>
        </p:txBody>
      </p:sp>
      <p:pic>
        <p:nvPicPr>
          <p:cNvPr id="5" name="Picture 4">
            <a:extLst>
              <a:ext uri="{FF2B5EF4-FFF2-40B4-BE49-F238E27FC236}">
                <a16:creationId xmlns:a16="http://schemas.microsoft.com/office/drawing/2014/main" id="{F575A622-9A47-3E08-B049-F3992543E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6632" y="4308948"/>
            <a:ext cx="4831573" cy="1482252"/>
          </a:xfrm>
          <a:prstGeom prst="rect">
            <a:avLst/>
          </a:prstGeom>
        </p:spPr>
      </p:pic>
      <p:pic>
        <p:nvPicPr>
          <p:cNvPr id="6" name="Graphic 5" descr="Back">
            <a:extLst>
              <a:ext uri="{FF2B5EF4-FFF2-40B4-BE49-F238E27FC236}">
                <a16:creationId xmlns:a16="http://schemas.microsoft.com/office/drawing/2014/main" id="{4A036578-A8B4-3B1A-3689-C6E70AFF5E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312261">
            <a:off x="4127722" y="4162375"/>
            <a:ext cx="1957465" cy="1957465"/>
          </a:xfrm>
          <a:prstGeom prst="rect">
            <a:avLst/>
          </a:prstGeom>
        </p:spPr>
      </p:pic>
    </p:spTree>
    <p:extLst>
      <p:ext uri="{BB962C8B-B14F-4D97-AF65-F5344CB8AC3E}">
        <p14:creationId xmlns:p14="http://schemas.microsoft.com/office/powerpoint/2010/main" val="498291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38734-53D4-C510-0341-50C75150626B}"/>
              </a:ext>
            </a:extLst>
          </p:cNvPr>
          <p:cNvSpPr>
            <a:spLocks noGrp="1"/>
          </p:cNvSpPr>
          <p:nvPr>
            <p:ph type="title"/>
          </p:nvPr>
        </p:nvSpPr>
        <p:spPr>
          <a:xfrm>
            <a:off x="1192576" y="241610"/>
            <a:ext cx="10353761" cy="1326321"/>
          </a:xfrm>
        </p:spPr>
        <p:txBody>
          <a:bodyPr/>
          <a:lstStyle/>
          <a:p>
            <a:br>
              <a:rPr lang="en-US" b="0" dirty="0"/>
            </a:br>
            <a:r>
              <a:rPr lang="en-US" dirty="0"/>
              <a:t>ANALYSIS APPROACH</a:t>
            </a:r>
          </a:p>
        </p:txBody>
      </p:sp>
      <p:sp>
        <p:nvSpPr>
          <p:cNvPr id="3" name="Content Placeholder 2">
            <a:extLst>
              <a:ext uri="{FF2B5EF4-FFF2-40B4-BE49-F238E27FC236}">
                <a16:creationId xmlns:a16="http://schemas.microsoft.com/office/drawing/2014/main" id="{03FDAE3B-3944-2E55-9E71-3F595E371553}"/>
              </a:ext>
            </a:extLst>
          </p:cNvPr>
          <p:cNvSpPr>
            <a:spLocks noGrp="1"/>
          </p:cNvSpPr>
          <p:nvPr>
            <p:ph idx="1"/>
          </p:nvPr>
        </p:nvSpPr>
        <p:spPr/>
        <p:txBody>
          <a:bodyPr>
            <a:normAutofit/>
          </a:bodyPr>
          <a:lstStyle/>
          <a:p>
            <a:pPr marL="0" indent="0">
              <a:buNone/>
            </a:pPr>
            <a:r>
              <a:rPr lang="en-US" sz="2400" dirty="0"/>
              <a:t>The analysis was carried out using SQL aggregation and grouping techniques on pre aggregated accident data. Since the dataset already contained summarized incident counts, functions such as SUM(Count) were used instead of record counting. City wise, cause identify high-- wise, and outcome level based queries were executed to risk cities, dominant accident causes, and frequently occurring outcomes. Special attention was given to minor injury cases, as they represent recurring safety issues that often go underreported compared to fatal accidents. </a:t>
            </a:r>
          </a:p>
        </p:txBody>
      </p:sp>
    </p:spTree>
    <p:extLst>
      <p:ext uri="{BB962C8B-B14F-4D97-AF65-F5344CB8AC3E}">
        <p14:creationId xmlns:p14="http://schemas.microsoft.com/office/powerpoint/2010/main" val="516494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1AEA2-D7A4-2D2D-3590-C9DFEB1AB279}"/>
              </a:ext>
            </a:extLst>
          </p:cNvPr>
          <p:cNvSpPr>
            <a:spLocks noGrp="1"/>
          </p:cNvSpPr>
          <p:nvPr>
            <p:ph type="title"/>
          </p:nvPr>
        </p:nvSpPr>
        <p:spPr>
          <a:xfrm>
            <a:off x="735375" y="-259521"/>
            <a:ext cx="10353761" cy="1326321"/>
          </a:xfrm>
        </p:spPr>
        <p:txBody>
          <a:bodyPr/>
          <a:lstStyle/>
          <a:p>
            <a:r>
              <a:rPr lang="en-US" dirty="0"/>
              <a:t>KEY INSIGHTS</a:t>
            </a:r>
          </a:p>
        </p:txBody>
      </p:sp>
      <p:sp>
        <p:nvSpPr>
          <p:cNvPr id="3" name="Content Placeholder 2">
            <a:extLst>
              <a:ext uri="{FF2B5EF4-FFF2-40B4-BE49-F238E27FC236}">
                <a16:creationId xmlns:a16="http://schemas.microsoft.com/office/drawing/2014/main" id="{AA75ED6A-1BD9-DB8B-A44C-BB50DBDD9E02}"/>
              </a:ext>
            </a:extLst>
          </p:cNvPr>
          <p:cNvSpPr>
            <a:spLocks noGrp="1"/>
          </p:cNvSpPr>
          <p:nvPr>
            <p:ph idx="1"/>
          </p:nvPr>
        </p:nvSpPr>
        <p:spPr>
          <a:xfrm>
            <a:off x="919119" y="980942"/>
            <a:ext cx="10353762" cy="3695136"/>
          </a:xfrm>
        </p:spPr>
        <p:txBody>
          <a:bodyPr>
            <a:noAutofit/>
          </a:bodyPr>
          <a:lstStyle/>
          <a:p>
            <a:r>
              <a:rPr lang="en-US" dirty="0"/>
              <a:t>Major metropolitan cities such as Delhi, Mumbai, and Bengaluru report the highest number of accident incidents, indicating a strong correlation between traffic density and accident frequency. • Cities like Coimbatore, Trichy, and Gwalior show comparatively lower accident counts, suggesting relatively safer traffic conditions or lower vehicle density. • Minor Injury emerges as the most common outcome across all cities, accounting for the majority of reported incidents, while fatal and grievous injury cases form a smaller proportion</a:t>
            </a:r>
          </a:p>
          <a:p>
            <a:r>
              <a:rPr lang="en-US" dirty="0"/>
              <a:t>Over Speeding and Drunken Driving are among the most frequently reported accident causes across multiple cities, highlighting behavioral factors as key contributors to road accidents. City wise analysis reveals that different cities exhibit different dominant causes; for example, </a:t>
            </a:r>
            <a:r>
              <a:rPr lang="en-US" dirty="0" err="1"/>
              <a:t>overspeeding</a:t>
            </a:r>
            <a:r>
              <a:rPr lang="en-US" dirty="0"/>
              <a:t> is more prominent in larger metros, whereas other causes appear more evenly distributed in smaller cities. • During analysis, it was observed that certain city could not be derived due to level cause combinations limitations in data granularity importance of structured and detailed data collection. </a:t>
            </a:r>
          </a:p>
        </p:txBody>
      </p:sp>
    </p:spTree>
    <p:extLst>
      <p:ext uri="{BB962C8B-B14F-4D97-AF65-F5344CB8AC3E}">
        <p14:creationId xmlns:p14="http://schemas.microsoft.com/office/powerpoint/2010/main" val="851277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95A37-6D30-89F9-AC8A-419783EB57A7}"/>
              </a:ext>
            </a:extLst>
          </p:cNvPr>
          <p:cNvSpPr>
            <a:spLocks noGrp="1"/>
          </p:cNvSpPr>
          <p:nvPr>
            <p:ph type="title"/>
          </p:nvPr>
        </p:nvSpPr>
        <p:spPr>
          <a:xfrm>
            <a:off x="919119" y="164225"/>
            <a:ext cx="10353761" cy="1326321"/>
          </a:xfrm>
        </p:spPr>
        <p:txBody>
          <a:bodyPr/>
          <a:lstStyle/>
          <a:p>
            <a:r>
              <a:rPr lang="en-US" dirty="0"/>
              <a:t>SUMMARY</a:t>
            </a:r>
          </a:p>
        </p:txBody>
      </p:sp>
      <p:sp>
        <p:nvSpPr>
          <p:cNvPr id="3" name="Content Placeholder 2">
            <a:extLst>
              <a:ext uri="{FF2B5EF4-FFF2-40B4-BE49-F238E27FC236}">
                <a16:creationId xmlns:a16="http://schemas.microsoft.com/office/drawing/2014/main" id="{C115CAF7-DD55-A945-1746-FE2A7BCC7760}"/>
              </a:ext>
            </a:extLst>
          </p:cNvPr>
          <p:cNvSpPr>
            <a:spLocks noGrp="1"/>
          </p:cNvSpPr>
          <p:nvPr>
            <p:ph idx="1"/>
          </p:nvPr>
        </p:nvSpPr>
        <p:spPr>
          <a:xfrm>
            <a:off x="757678" y="1672318"/>
            <a:ext cx="10353762" cy="3695136"/>
          </a:xfrm>
        </p:spPr>
        <p:txBody>
          <a:bodyPr>
            <a:noAutofit/>
          </a:bodyPr>
          <a:lstStyle/>
          <a:p>
            <a:pPr marL="0" indent="0">
              <a:buNone/>
            </a:pPr>
            <a:r>
              <a:rPr lang="en-US" sz="2400" dirty="0"/>
              <a:t>This project successfully analyzed regulatory road accident data using SQL to identify city wise accident trends, dominant causes, and outcome distributions. By focusing on aggregated data, the study efficiently highlighted high risk cities and recurring minor injury cases that require regulatory attention. The findings emphasize the importance of targeted road safety measures rather than uniform policies across cities. Overall, the structured SQL based analysis demonstrates how data driven insights can assist traffic authorities and policymakers in improving urban road safety planning and decision making.</a:t>
            </a:r>
          </a:p>
        </p:txBody>
      </p:sp>
    </p:spTree>
    <p:extLst>
      <p:ext uri="{BB962C8B-B14F-4D97-AF65-F5344CB8AC3E}">
        <p14:creationId xmlns:p14="http://schemas.microsoft.com/office/powerpoint/2010/main" val="145445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667E-248F-E850-8236-C0BF014BBBB7}"/>
              </a:ext>
            </a:extLst>
          </p:cNvPr>
          <p:cNvSpPr>
            <a:spLocks noGrp="1"/>
          </p:cNvSpPr>
          <p:nvPr>
            <p:ph type="title"/>
          </p:nvPr>
        </p:nvSpPr>
        <p:spPr>
          <a:xfrm>
            <a:off x="1114517" y="2617311"/>
            <a:ext cx="10353761" cy="1326321"/>
          </a:xfrm>
        </p:spPr>
        <p:txBody>
          <a:bodyPr>
            <a:normAutofit/>
          </a:bodyPr>
          <a:lstStyle/>
          <a:p>
            <a:r>
              <a:rPr lang="en-IN" sz="6600" dirty="0"/>
              <a:t>THANKYOU</a:t>
            </a:r>
            <a:endParaRPr lang="en-US" sz="6600" dirty="0"/>
          </a:p>
        </p:txBody>
      </p:sp>
      <p:sp>
        <p:nvSpPr>
          <p:cNvPr id="3" name="Content Placeholder 2">
            <a:extLst>
              <a:ext uri="{FF2B5EF4-FFF2-40B4-BE49-F238E27FC236}">
                <a16:creationId xmlns:a16="http://schemas.microsoft.com/office/drawing/2014/main" id="{CA17D18E-9C8B-E8E8-7B2A-5D6998111D16}"/>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0866293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Ion</Template>
  <TotalTime>306</TotalTime>
  <Words>1283</Words>
  <Application>Microsoft Office PowerPoint</Application>
  <PresentationFormat>Widescreen</PresentationFormat>
  <Paragraphs>87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Bookman Old Style</vt:lpstr>
      <vt:lpstr>Rockwell</vt:lpstr>
      <vt:lpstr>Times New Roman</vt:lpstr>
      <vt:lpstr>Damask</vt:lpstr>
      <vt:lpstr>DATA ANALYSIS PROJECT USING SQL</vt:lpstr>
      <vt:lpstr>REGULATORY AFFAIRS OF ROAD ACCIDENTS DATA -2020</vt:lpstr>
      <vt:lpstr> PROJECT OVERVIEW </vt:lpstr>
      <vt:lpstr> TECHNOLOGY USED </vt:lpstr>
      <vt:lpstr> QUIRES  1] Import &amp; View Table</vt:lpstr>
      <vt:lpstr> 2] Rename The Table </vt:lpstr>
      <vt:lpstr> 4] Check Null Values</vt:lpstr>
      <vt:lpstr> 5] Top Cities with the Highest Incident Count</vt:lpstr>
      <vt:lpstr> 6] Distribution of "Minor Injury" Incident Outcomes Across Cities (Greater Than 15)</vt:lpstr>
      <vt:lpstr> 7] Top Cities for Each Specific Cause Category</vt:lpstr>
      <vt:lpstr>Most common outcome across all cities</vt:lpstr>
      <vt:lpstr>City-wise distribution of accidents caused</vt:lpstr>
      <vt:lpstr>Cities with lowest number of accidents</vt:lpstr>
      <vt:lpstr>Most frequent outcome-cause PAIR</vt:lpstr>
      <vt:lpstr>PERCENTAGE OF EACH OUTCOME TYPE</vt:lpstr>
      <vt:lpstr>CITY WITH HIGHEST ACCIDENT FOR A SPECIFIC CAUSE CATEGORY</vt:lpstr>
      <vt:lpstr> ANALYSIS APPROACH</vt:lpstr>
      <vt:lpstr>KEY INSIGHTS</vt:lpstr>
      <vt:lpstr>SUMMARY</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gurbachan</dc:creator>
  <cp:lastModifiedBy>s gurbachan</cp:lastModifiedBy>
  <cp:revision>6</cp:revision>
  <dcterms:created xsi:type="dcterms:W3CDTF">2026-02-10T07:33:32Z</dcterms:created>
  <dcterms:modified xsi:type="dcterms:W3CDTF">2026-02-10T19:42:21Z</dcterms:modified>
</cp:coreProperties>
</file>